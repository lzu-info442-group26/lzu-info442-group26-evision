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0" r:id="rId10"/>
    <p:sldId id="263" r:id="rId11"/>
    <p:sldId id="271" r:id="rId12"/>
    <p:sldId id="264" r:id="rId13"/>
    <p:sldId id="265" r:id="rId14"/>
    <p:sldId id="272" r:id="rId15"/>
    <p:sldId id="266" r:id="rId16"/>
    <p:sldId id="267" r:id="rId17"/>
    <p:sldId id="269" r:id="rId18"/>
    <p:sldId id="275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 userDrawn="1">
          <p15:clr>
            <a:srgbClr val="A4A3A4"/>
          </p15:clr>
        </p15:guide>
        <p15:guide id="2" pos="2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64"/>
        <p:guide pos="29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image" Target="../media/image2.png"/><Relationship Id="rId17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image" Target="../media/image9.png"/><Relationship Id="rId6" Type="http://schemas.openxmlformats.org/officeDocument/2006/relationships/tags" Target="../tags/tag20.xml"/><Relationship Id="rId7" Type="http://schemas.openxmlformats.org/officeDocument/2006/relationships/tags" Target="../tags/tag21.xml"/><Relationship Id="rId8" Type="http://schemas.openxmlformats.org/officeDocument/2006/relationships/tags" Target="../tags/tag22.xml"/><Relationship Id="rId9" Type="http://schemas.openxmlformats.org/officeDocument/2006/relationships/tags" Target="../tags/tag23.xml"/><Relationship Id="rId10" Type="http://schemas.openxmlformats.org/officeDocument/2006/relationships/image" Target="../media/image10.png"/><Relationship Id="rId11" Type="http://schemas.openxmlformats.org/officeDocument/2006/relationships/tags" Target="../tags/tag24.xml"/><Relationship Id="rId12" Type="http://schemas.openxmlformats.org/officeDocument/2006/relationships/tags" Target="../tags/tag25.xml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011680"/>
            <a:ext cx="39319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4663440"/>
            <a:ext cx="39319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 panose="020B0604020202020204"/>
              </a:defRPr>
            </a:pPr>
            <a:r>
              <a:t>MultiFact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8C96A"/>
                </a:solidFill>
                <a:latin typeface="Arial" panose="020B0604020202020204"/>
              </a:defRPr>
            </a:pPr>
            <a:r>
              <a:t>Multimodal Misinformation Detection on Social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 panose="020B0604020202020204"/>
              </a:defRPr>
            </a:pPr>
            <a:r>
              <a:t>INFO 442 Data Science Projects — Milestone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Arial" panose="020B0604020202020204"/>
              </a:defRPr>
            </a:pPr>
            <a:r>
              <a:t>Group 25  |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Arial" panose="020B0604020202020204"/>
              </a:defRPr>
            </a:pPr>
            <a:r>
              <a:t>Jianwen Han (Lead)  ·  Chuhao Wang (Data)  ·  Ke Meng (Modeling)  ·  Zhirun Han (Visualization)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The Problem: Misinformation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731520" y="1463040"/>
            <a:ext cx="2514600" cy="21031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731520" y="1463040"/>
            <a:ext cx="25146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914400" y="164592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B2A4A"/>
                </a:solidFill>
                <a:latin typeface="Arial" panose="020B0604020202020204"/>
              </a:defRPr>
            </a:pPr>
            <a:r>
              <a:t>74%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914400" y="23774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of internet users encounter</a:t>
            </a:r>
            <a:br/>
            <a:r>
              <a:t>misinformation weekly</a:t>
            </a:r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914400" y="31546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Pew Research, 2024</a:t>
            </a:r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3371850" y="1463040"/>
            <a:ext cx="2514600" cy="21031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7"/>
            </p:custDataLst>
          </p:nvPr>
        </p:nvSpPr>
        <p:spPr>
          <a:xfrm>
            <a:off x="3371850" y="1463040"/>
            <a:ext cx="25146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3554730" y="164592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B2A4A"/>
                </a:solidFill>
                <a:latin typeface="Arial" panose="020B0604020202020204"/>
              </a:defRPr>
            </a:pPr>
            <a:r>
              <a:t>6×</a:t>
            </a: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3554730" y="23774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false news spreads faster</a:t>
            </a:r>
            <a:br/>
            <a:r>
              <a:t>than truth on social media</a:t>
            </a: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3554730" y="31546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MIT / Science, 2018</a:t>
            </a:r>
          </a:p>
        </p:txBody>
      </p:sp>
      <p:sp>
        <p:nvSpPr>
          <p:cNvPr id="18" name="Rectangle 17"/>
          <p:cNvSpPr/>
          <p:nvPr>
            <p:custDataLst>
              <p:tags r:id="rId11"/>
            </p:custDataLst>
          </p:nvPr>
        </p:nvSpPr>
        <p:spPr>
          <a:xfrm>
            <a:off x="5995035" y="1463040"/>
            <a:ext cx="2514600" cy="21031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2"/>
            </p:custDataLst>
          </p:nvPr>
        </p:nvSpPr>
        <p:spPr>
          <a:xfrm>
            <a:off x="5995035" y="1463040"/>
            <a:ext cx="25146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3"/>
            </p:custDataLst>
          </p:nvPr>
        </p:nvSpPr>
        <p:spPr>
          <a:xfrm>
            <a:off x="6177915" y="164592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B2A4A"/>
                </a:solidFill>
                <a:latin typeface="Arial" panose="020B0604020202020204"/>
              </a:defRPr>
            </a:pPr>
            <a:r>
              <a:t>Multi-</a:t>
            </a:r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6177915" y="237744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most misinformation now</a:t>
            </a:r>
            <a:br/>
            <a:r>
              <a:t>combines text with images</a:t>
            </a: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6177915" y="31546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XFacta, 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31920"/>
            <a:ext cx="10698480" cy="2286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931920"/>
            <a:ext cx="54864" cy="2286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1B2A4A"/>
                </a:solidFill>
                <a:latin typeface="Arial" panose="020B0604020202020204"/>
              </a:defRPr>
            </a:pPr>
            <a:r>
              <a:t>Core Research Question</a:t>
            </a:r>
          </a:p>
          <a:p>
            <a:pPr algn="l">
              <a:spcAft>
                <a:spcPts val="480"/>
              </a:spcAft>
              <a:defRPr sz="400" b="0">
                <a:solidFill>
                  <a:srgbClr val="FFFFFF"/>
                </a:solidFill>
                <a:latin typeface="Arial" panose="020B0604020202020204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2D2D2D"/>
                </a:solidFill>
                <a:latin typeface="Arial" panose="020B0604020202020204"/>
              </a:defRPr>
            </a:pPr>
            <a:r>
              <a:t>Can multimodal LLMs effectively detect real-world misinformation by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2D2D2D"/>
                </a:solidFill>
                <a:latin typeface="Arial" panose="020B0604020202020204"/>
              </a:defRPr>
            </a:pPr>
            <a:r>
              <a:t>combining evidence retrieval with structured reasoning — and which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2D2D2D"/>
                </a:solidFill>
                <a:latin typeface="Arial" panose="020B0604020202020204"/>
              </a:defRPr>
            </a:pPr>
            <a:r>
              <a:t>reasoning strategy performs best?</a:t>
            </a:r>
          </a:p>
          <a:p>
            <a:pPr algn="l">
              <a:spcAft>
                <a:spcPts val="480"/>
              </a:spcAft>
              <a:defRPr sz="800" b="0">
                <a:solidFill>
                  <a:srgbClr val="FFFFFF"/>
                </a:solidFill>
                <a:latin typeface="Arial" panose="020B0604020202020204"/>
              </a:defRPr>
            </a:pPr>
          </a:p>
          <a:p>
            <a:pPr algn="l">
              <a:spcAft>
                <a:spcPts val="480"/>
              </a:spcAft>
              <a:defRPr sz="1300" b="0">
                <a:solidFill>
                  <a:srgbClr val="999999"/>
                </a:solidFill>
                <a:latin typeface="Arial" panose="020B0604020202020204"/>
              </a:defRPr>
            </a:pPr>
            <a:r>
              <a:t>Our Approach: Compare 3 reasoning pipelines on a contemporary 2024–2025</a:t>
            </a:r>
          </a:p>
          <a:p>
            <a:pPr algn="l">
              <a:spcAft>
                <a:spcPts val="480"/>
              </a:spcAft>
              <a:defRPr sz="1300" b="0">
                <a:solidFill>
                  <a:srgbClr val="999999"/>
                </a:solidFill>
                <a:latin typeface="Arial" panose="020B0604020202020204"/>
              </a:defRPr>
            </a:pPr>
            <a:r>
              <a:t>dataset to find the optimal detection strategy.</a:t>
            </a:r>
          </a:p>
        </p:txBody>
      </p:sp>
      <p:pic>
        <p:nvPicPr>
          <p:cNvPr id="23" name="Picture 22" descr="XFacta.png"/>
          <p:cNvPicPr>
            <a:picLocks noChangeAspect="1"/>
          </p:cNvPicPr>
          <p:nvPr/>
        </p:nvPicPr>
        <p:blipFill>
          <a:blip r:embed="rId16"/>
          <a:srcRect l="51560"/>
          <a:stretch>
            <a:fillRect/>
          </a:stretch>
        </p:blipFill>
        <p:spPr>
          <a:xfrm>
            <a:off x="8256270" y="4147185"/>
            <a:ext cx="3615055" cy="18675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2" descr="XFacta.png"/>
          <p:cNvPicPr>
            <a:picLocks noChangeAspect="1"/>
          </p:cNvPicPr>
          <p:nvPr/>
        </p:nvPicPr>
        <p:blipFill>
          <a:blip r:embed="rId16"/>
          <a:srcRect r="48305"/>
          <a:stretch>
            <a:fillRect/>
          </a:stretch>
        </p:blipFill>
        <p:spPr>
          <a:xfrm>
            <a:off x="8267700" y="1820545"/>
            <a:ext cx="3615055" cy="1750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Data: Acquisition, Preprocessing &amp; Dataset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 panose="020B0604020202020204"/>
              </a:defRPr>
            </a:pPr>
            <a:r>
              <a:t>2,400 balanced multimodal posts from X (Twitter)  ·  arXiv 2508.09999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303520" cy="102412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54864" cy="102412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10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Dataset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92224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1,200 authentic + 1,200 misinformation</a:t>
            </a:r>
          </a:p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50/50 balanced, 14 topics, 7 error types</a:t>
            </a:r>
          </a:p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2024-2025, covers US Election + conflicts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5303520" cy="102412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80360"/>
            <a:ext cx="54864" cy="102412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Multimodal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35224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&gt;99% posts have images</a:t>
            </a:r>
          </a:p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Text + image(s) per sample</a:t>
            </a:r>
          </a:p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Fact-checker flagging text included</a:t>
            </a:r>
          </a:p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Cross-modal reasoning essential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5303520" cy="102412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54864" cy="102412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078224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26 JSON files → 2 unified CSVs</a:t>
            </a:r>
          </a:p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Flatten nested JSON, normalize image paths</a:t>
            </a:r>
          </a:p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Map numeric error codes → readable labels</a:t>
            </a:r>
          </a:p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Drop 25 empty-text records (0.5%)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66360"/>
            <a:ext cx="5303520" cy="102412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66360"/>
            <a:ext cx="54864" cy="102412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239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Output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221224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batches_clean.csv: 2,388 rows, 15 columns</a:t>
            </a:r>
          </a:p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dev_test_clean.csv: 2,387 rows, 4 columns</a:t>
            </a:r>
          </a:p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91.9% dev/test-batch overlap (documented)</a:t>
            </a:r>
          </a:p>
          <a:p>
            <a:pPr algn="l">
              <a:spcAft>
                <a:spcPts val="440"/>
              </a:spcAft>
              <a:defRPr sz="900">
                <a:solidFill>
                  <a:srgbClr val="2D2D2D"/>
                </a:solidFill>
                <a:latin typeface="Arial" panose="020B0604020202020204"/>
              </a:defRPr>
            </a:pPr>
            <a:r>
              <a:t>395 unlabeled records preserved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691640"/>
            <a:ext cx="557784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777365"/>
            <a:ext cx="55778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rPr sz="1400"/>
              <a:t>Misinformation Error Categories</a:t>
            </a:r>
            <a:endParaRPr sz="1400"/>
          </a:p>
        </p:txBody>
      </p:sp>
      <p:pic>
        <p:nvPicPr>
          <p:cNvPr id="27" name="Picture 26" descr="figure_2_3_error_categori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073910"/>
            <a:ext cx="5577840" cy="29414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/>
          <p:cNvSpPr txBox="1"/>
          <p:nvPr/>
        </p:nvSpPr>
        <p:spPr>
          <a:xfrm>
            <a:off x="731520" y="635508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11 transformation steps · 25 records dropped · 395 unlabeled preserved · Full pipeline: preprocess.py</a:t>
            </a:r>
          </a:p>
        </p:txBody>
      </p:sp>
      <p:pic>
        <p:nvPicPr>
          <p:cNvPr id="29" name="Picture 28" descr="figure_2_2_sample_typ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190" y="5159375"/>
            <a:ext cx="2651760" cy="10349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29" descr="figure_2_1_labe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725" y="5313045"/>
            <a:ext cx="2651760" cy="7594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15123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rPr sz="2800"/>
              <a:t>System Architecture: Evidence → Reasoning → Decision</a:t>
            </a:r>
            <a:endParaRPr sz="2800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4114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356616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 panose="020B0604020202020204"/>
              </a:defRPr>
            </a:pPr>
            <a:r>
              <a:t>① Evidence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8 retrieval strategies</a:t>
            </a:r>
          </a:p>
          <a:p>
            <a:pPr algn="l">
              <a:spcAft>
                <a:spcPts val="520"/>
              </a:spcAft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t>Image→Text    Text→Text    Caption→Image</a:t>
            </a:r>
          </a:p>
          <a:p>
            <a:pPr algn="l">
              <a:spcAft>
                <a:spcPts val="520"/>
              </a:spcAft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t>Query generation + search engines</a:t>
            </a:r>
          </a:p>
          <a:p>
            <a:pPr algn="l">
              <a:spcAft>
                <a:spcPts val="520"/>
              </a:spcAft>
              <a:defRPr sz="600" b="0">
                <a:solidFill>
                  <a:srgbClr val="FFFFFF"/>
                </a:solidFill>
                <a:latin typeface="Arial" panose="020B0604020202020204"/>
              </a:defRPr>
            </a:pPr>
          </a:p>
          <a:p>
            <a:pPr algn="l">
              <a:spcAft>
                <a:spcPts val="520"/>
              </a:spcAft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LLM-based evidence extraction</a:t>
            </a:r>
          </a:p>
          <a:p>
            <a:pPr algn="l">
              <a:spcAft>
                <a:spcPts val="520"/>
              </a:spcAft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Domain filtering for quality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566160" cy="4114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3566160" cy="640080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361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 panose="020B0604020202020204"/>
              </a:defRPr>
            </a:pPr>
            <a:r>
              <a:t>② Reasoning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4 reasoning paradigms</a:t>
            </a:r>
          </a:p>
          <a:p>
            <a:pPr algn="l">
              <a:spcAft>
                <a:spcPts val="520"/>
              </a:spcAft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t>Chain-of-Thought (Baseline)</a:t>
            </a:r>
          </a:p>
          <a:p>
            <a:pPr algn="l">
              <a:spcAft>
                <a:spcPts val="520"/>
              </a:spcAft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t>Prompt Ensembles</a:t>
            </a:r>
          </a:p>
          <a:p>
            <a:pPr algn="l">
              <a:spcAft>
                <a:spcPts val="520"/>
              </a:spcAft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t>Self-Consistency Voting</a:t>
            </a:r>
          </a:p>
          <a:p>
            <a:pPr algn="l">
              <a:spcAft>
                <a:spcPts val="520"/>
              </a:spcAft>
              <a:defRPr sz="600" b="0">
                <a:solidFill>
                  <a:srgbClr val="FFFFFF"/>
                </a:solidFill>
                <a:latin typeface="Arial" panose="020B0604020202020204"/>
              </a:defRPr>
            </a:pPr>
          </a:p>
          <a:p>
            <a:pPr algn="l">
              <a:spcAft>
                <a:spcPts val="520"/>
              </a:spcAft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Multi-Step Structured (Best)</a:t>
            </a:r>
          </a:p>
          <a:p>
            <a:pPr algn="l">
              <a:spcAft>
                <a:spcPts val="520"/>
              </a:spcAft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t>LLM-based  ·  LLMs  ·  open-source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566160" cy="4114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566160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361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 panose="020B0604020202020204"/>
              </a:defRPr>
            </a:pPr>
            <a:r>
              <a:t>③ Final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3774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Binary classification:</a:t>
            </a:r>
          </a:p>
          <a:p>
            <a:pPr algn="l">
              <a:spcAft>
                <a:spcPts val="520"/>
              </a:spcAft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t>   True (Authentic) / False (Misinfo)</a:t>
            </a:r>
          </a:p>
          <a:p>
            <a:pPr algn="l">
              <a:spcAft>
                <a:spcPts val="520"/>
              </a:spcAft>
              <a:defRPr sz="600" b="0">
                <a:solidFill>
                  <a:srgbClr val="FFFFFF"/>
                </a:solidFill>
                <a:latin typeface="Arial" panose="020B0604020202020204"/>
              </a:defRPr>
            </a:pPr>
          </a:p>
          <a:p>
            <a:pPr algn="l">
              <a:spcAft>
                <a:spcPts val="520"/>
              </a:spcAft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+ Error type identification</a:t>
            </a:r>
          </a:p>
          <a:p>
            <a:pPr algn="l">
              <a:spcAft>
                <a:spcPts val="520"/>
              </a:spcAft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+ Confidence score (0-100)</a:t>
            </a:r>
          </a:p>
          <a:p>
            <a:pPr algn="l">
              <a:spcAft>
                <a:spcPts val="520"/>
              </a:spcAft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+ Traceable reasoning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843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843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25603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📱  Social Media Post</a:t>
            </a:r>
            <a:br/>
            <a:r>
              <a:t>     (text + images)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5897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5806440"/>
            <a:ext cx="2560320" cy="502920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5852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🔍  search engines</a:t>
            </a:r>
            <a:br/>
            <a:r>
              <a:t>     LLM-based 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5897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806440"/>
            <a:ext cx="25603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852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🧠  LLM backends</a:t>
            </a:r>
            <a:br/>
            <a:r>
              <a:t>     open-source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5897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5806440"/>
            <a:ext cx="2560320" cy="5029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5852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✅  True / False</a:t>
            </a:r>
            <a:br/>
            <a:r>
              <a:t>     + Confidence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EDA Insights: What the Data Tells Us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7495" y="1463040"/>
            <a:ext cx="10698480" cy="2148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8605" y="1463040"/>
            <a:ext cx="54864" cy="2148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815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Arial" panose="020B0604020202020204"/>
              </a:defRPr>
            </a:pPr>
            <a:r>
              <a:t>🔍  Finding 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815" y="1874520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Arial" panose="020B0604020202020204"/>
              </a:defRPr>
            </a:pPr>
            <a:r>
              <a:rPr sz="1600"/>
              <a:t>Most Misinformation Uses Real Images Deceptively — Not Deepfakes</a:t>
            </a:r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551815" y="2331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t>Incorrectly Captioned Images: 37% — dominant error type</a:t>
            </a:r>
          </a:p>
          <a:p>
            <a:pPr algn="l">
              <a:spcAft>
                <a:spcPts val="540"/>
              </a:spcAft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t>De-contextualization: 30% — real images in wrong context</a:t>
            </a:r>
          </a:p>
          <a:p>
            <a:pPr algn="l">
              <a:spcAft>
                <a:spcPts val="540"/>
              </a:spcAft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t>Deepfakes: only ~8% — pure AI generation is rare in real-world data</a:t>
            </a:r>
          </a:p>
          <a:p>
            <a:pPr algn="l">
              <a:spcAft>
                <a:spcPts val="540"/>
              </a:spcAft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t>→ Cross-modal reasoning is essential; just spotting fake images is not enough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495" y="3840480"/>
            <a:ext cx="10698480" cy="2148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495" y="3840480"/>
            <a:ext cx="54864" cy="21488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1815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843"/>
                </a:solidFill>
                <a:latin typeface="Arial" panose="020B0604020202020204"/>
              </a:defRPr>
            </a:pPr>
            <a:r>
              <a:t>⚠️  Finding 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1815" y="4251960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Arial" panose="020B0604020202020204"/>
              </a:defRPr>
            </a:pPr>
            <a:r>
              <a:rPr sz="1600"/>
              <a:t>Author Identity Is a Critical Confound — Must Be Excluded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551815" y="4709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t>News organizations → almost always labeled True</a:t>
            </a:r>
          </a:p>
          <a:p>
            <a:pPr algn="l">
              <a:spcAft>
                <a:spcPts val="540"/>
              </a:spcAft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t>Individual/flagged accounts → almost always labeled False</a:t>
            </a:r>
          </a:p>
          <a:p>
            <a:pPr algn="l">
              <a:spcAft>
                <a:spcPts val="540"/>
              </a:spcAft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t>A model using author features would learn this shortcut and fail on new data</a:t>
            </a:r>
          </a:p>
          <a:p>
            <a:pPr algn="l">
              <a:spcAft>
                <a:spcPts val="540"/>
              </a:spcAft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t>→ Author information must be excluded from all modeling pipelines</a:t>
            </a:r>
          </a:p>
        </p:txBody>
      </p:sp>
      <p:pic>
        <p:nvPicPr>
          <p:cNvPr id="18" name="Picture 17" descr="figure_2_5_text_length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3785" y="3671570"/>
            <a:ext cx="4114800" cy="13252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 descr="figure_3_2_label_by_t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785" y="1205230"/>
            <a:ext cx="4114800" cy="24078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 descr="figure_3_3_image_presence_and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785" y="5046345"/>
            <a:ext cx="4114800" cy="1419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EDA Insights: Visual Evidence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6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365760" y="1325880"/>
            <a:ext cx="5577840" cy="5029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548640" y="1148715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Arial" panose="020B0604020202020204"/>
              </a:defRPr>
            </a:pPr>
            <a:r>
              <a:t>Author Type: A Near-Perfect Confound</a:t>
            </a:r>
          </a:p>
        </p:txBody>
      </p:sp>
      <p:pic>
        <p:nvPicPr>
          <p:cNvPr id="10" name="Picture 9" descr="figure_3_4_author_type_analysis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48640" y="1423035"/>
            <a:ext cx="5374005" cy="2426335"/>
          </a:xfrm>
          <a:prstGeom prst="rect">
            <a:avLst/>
          </a:prstGeom>
        </p:spPr>
      </p:pic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505460" y="3830955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News orgs ≈ 100% True    ·    Individuals ≈ 100% False</a:t>
            </a:r>
          </a:p>
          <a:p>
            <a:pPr algn="l">
              <a:spcAft>
                <a:spcPts val="480"/>
              </a:spcAft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t>→ Author identity carries perfect label signal but zero generalization value.</a:t>
            </a:r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6217920" y="1325880"/>
            <a:ext cx="5577840" cy="5029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400800" y="1148715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Arial" panose="020B0604020202020204"/>
              </a:defRPr>
            </a:pPr>
            <a:r>
              <a:t>Temporal Patterns: Event-Driven Misinformation</a:t>
            </a:r>
          </a:p>
        </p:txBody>
      </p:sp>
      <p:pic>
        <p:nvPicPr>
          <p:cNvPr id="14" name="Picture 13" descr="figure_4_2_timeline_by_label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268720" y="1370965"/>
            <a:ext cx="5489575" cy="2058670"/>
          </a:xfrm>
          <a:prstGeom prst="rect">
            <a:avLst/>
          </a:prstGeom>
        </p:spPr>
      </p:pic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6461125" y="3377565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Misinformation spikes sharply around US Election (Nov 2024).</a:t>
            </a:r>
          </a:p>
          <a:p>
            <a:pPr algn="l">
              <a:spcAft>
                <a:spcPts val="480"/>
              </a:spcAft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t>→ Temporal context matters for robust detection.</a:t>
            </a:r>
          </a:p>
        </p:txBody>
      </p:sp>
      <p:pic>
        <p:nvPicPr>
          <p:cNvPr id="16" name="Picture 15" descr="figure_4_3_timeline_by_error_category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56235" y="4322445"/>
            <a:ext cx="5577840" cy="2043716"/>
          </a:xfrm>
          <a:prstGeom prst="rect">
            <a:avLst/>
          </a:prstGeom>
        </p:spPr>
      </p:pic>
      <p:pic>
        <p:nvPicPr>
          <p:cNvPr id="17" name="Picture 16" descr="figure_2_4_topic_distributi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52845" y="3888105"/>
            <a:ext cx="5478145" cy="2467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M5: Comparing Three Reasoning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 panose="020B0604020202020204"/>
              </a:defRPr>
            </a:pPr>
            <a:r>
              <a:t>All models share the same evidence retrieval. Only the reasoning logic differs.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566160" cy="4114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356616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CoT Evidence</a:t>
            </a:r>
            <a:br/>
            <a:r>
              <a:t>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Single-stage Chain-of-Thought:</a:t>
            </a:r>
            <a:br/>
            <a:r>
              <a:t>all evidence → one reasoning</a:t>
            </a:r>
            <a:br/>
            <a:r>
              <a:t>chain → final label.</a:t>
            </a:r>
            <a:br/>
            <a:br/>
            <a:r>
              <a:t>Simple, interpretable, widely</a:t>
            </a:r>
            <a:br/>
            <a:r>
              <a:t>used in misinformation research.</a:t>
            </a:r>
            <a:br/>
            <a:br/>
            <a:r>
              <a:t>Input: Image-search + Caption-search</a:t>
            </a:r>
            <a:br/>
            <a:r>
              <a:t>+ Web-text retrieval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566160" cy="4114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566160" cy="1097280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Prompt 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Multiple prompt templates</a:t>
            </a:r>
            <a:br/>
            <a:r>
              <a:t>voted via majority rule.</a:t>
            </a:r>
            <a:br/>
            <a:br/>
            <a:r>
              <a:t>Tests whether prompt diversity</a:t>
            </a:r>
            <a:br/>
            <a:r>
              <a:t>stabilizes output and reduces</a:t>
            </a:r>
            <a:br/>
            <a:r>
              <a:t>wording sensitivity.</a:t>
            </a:r>
            <a:br/>
            <a:br/>
            <a:r>
              <a:t>Input: Image-search + Caption-search</a:t>
            </a:r>
            <a:br/>
            <a:r>
              <a:t>+ Web-text retrieval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566160" cy="4114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920240"/>
            <a:ext cx="356616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Multi-Step Reasoning</a:t>
            </a:r>
            <a:br/>
            <a:r>
              <a:t>★ Best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Staged verification pipeline:</a:t>
            </a:r>
            <a:br/>
            <a:br/>
            <a:r>
              <a:t>① Caption truthfulness check</a:t>
            </a:r>
            <a:br/>
            <a:r>
              <a:t>② Image misuse detection</a:t>
            </a:r>
            <a:br/>
            <a:r>
              <a:t>③ Cross-modal final verdict</a:t>
            </a:r>
            <a:br/>
            <a:br/>
            <a:r>
              <a:t>Input: Image-search + Caption-search</a:t>
            </a:r>
            <a:br/>
            <a:r>
              <a:t>→ Separates text &amp; visual deception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M5: Comparing Three Reasoning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 panose="020B0604020202020204"/>
              </a:defRPr>
            </a:pPr>
            <a:r>
              <a:t>All models share the same evidence retrieval. Only the reasoning logic differs.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566160" cy="4114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356616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CoT Evidence</a:t>
            </a:r>
            <a:br/>
            <a:r>
              <a:t>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Single-stage Chain-of-Thought:</a:t>
            </a:r>
            <a:br/>
            <a:r>
              <a:t>all evidence → one reasoning</a:t>
            </a:r>
            <a:br/>
            <a:r>
              <a:t>chain → final label.</a:t>
            </a:r>
            <a:br/>
            <a:br/>
            <a:r>
              <a:t>Simple, interpretable, widely</a:t>
            </a:r>
            <a:br/>
            <a:r>
              <a:t>used in misinformation research.</a:t>
            </a:r>
            <a:br/>
            <a:br/>
            <a:r>
              <a:t>Input: Image-search + Caption-search</a:t>
            </a:r>
            <a:br/>
            <a:r>
              <a:t>+ Web-text retrieval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566160" cy="4114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566160" cy="1097280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Prompt 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Multiple prompt templates</a:t>
            </a:r>
            <a:br/>
            <a:r>
              <a:t>voted via majority rule.</a:t>
            </a:r>
            <a:br/>
            <a:br/>
            <a:r>
              <a:t>Tests whether prompt diversity</a:t>
            </a:r>
            <a:br/>
            <a:r>
              <a:t>stabilizes output and reduces</a:t>
            </a:r>
            <a:br/>
            <a:r>
              <a:t>wording sensitivity.</a:t>
            </a:r>
            <a:br/>
            <a:br/>
            <a:r>
              <a:t>Input: Image-search + Caption-search</a:t>
            </a:r>
            <a:br/>
            <a:r>
              <a:t>+ Web-text retrieval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566160" cy="4114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920240"/>
            <a:ext cx="356616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Multi-Step Reasoning</a:t>
            </a:r>
            <a:br/>
            <a:r>
              <a:t>★ Best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Staged verification pipeline:</a:t>
            </a:r>
            <a:br/>
            <a:br/>
            <a:r>
              <a:t>① Caption truthfulness check</a:t>
            </a:r>
            <a:br/>
            <a:r>
              <a:t>② Image misuse detection</a:t>
            </a:r>
            <a:br/>
            <a:r>
              <a:t>③ Cross-modal final verdict</a:t>
            </a:r>
            <a:br/>
            <a:br/>
            <a:r>
              <a:t>Input: Image-search + Caption-search</a:t>
            </a:r>
            <a:br/>
            <a:r>
              <a:t>→ Separates text &amp; visual deception</a:t>
            </a:r>
          </a:p>
        </p:txBody>
      </p:sp>
      <p:pic>
        <p:nvPicPr>
          <p:cNvPr id="21" name="Picture 20" descr="figure_4_1_fake_by_topic_and_error_categ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9690" y="1727200"/>
            <a:ext cx="8200390" cy="43065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Results: Multi-Step Outperforms Across All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141732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37360"/>
                <a:gridCol w="1737360"/>
                <a:gridCol w="1737360"/>
                <a:gridCol w="192024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CoT Evidence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0.778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0.794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0.771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Prompt Ensemble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0.819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0.829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0.817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843"/>
                          </a:solidFill>
                          <a:latin typeface="Arial" panose="020B0604020202020204"/>
                        </a:defRPr>
                      </a:pPr>
                      <a:r>
                        <a:t>★ Multi-Step</a:t>
                      </a:r>
                    </a:p>
                  </a:txBody>
                  <a:tcPr anchor="ctr">
                    <a:solidFill>
                      <a:srgbClr val="24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843"/>
                          </a:solidFill>
                          <a:latin typeface="Arial" panose="020B0604020202020204"/>
                        </a:defRPr>
                      </a:pPr>
                      <a:r>
                        <a:t>0.847</a:t>
                      </a:r>
                    </a:p>
                  </a:txBody>
                  <a:tcPr anchor="ctr">
                    <a:solidFill>
                      <a:srgbClr val="24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843"/>
                          </a:solidFill>
                          <a:latin typeface="Arial" panose="020B0604020202020204"/>
                        </a:defRPr>
                      </a:pPr>
                      <a:r>
                        <a:t>0.838</a:t>
                      </a:r>
                    </a:p>
                  </a:txBody>
                  <a:tcPr anchor="ctr">
                    <a:solidFill>
                      <a:srgbClr val="24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843"/>
                          </a:solidFill>
                          <a:latin typeface="Arial" panose="020B0604020202020204"/>
                        </a:defRPr>
                      </a:pPr>
                      <a:r>
                        <a:t>0.861</a:t>
                      </a:r>
                    </a:p>
                  </a:txBody>
                  <a:tcPr anchor="ctr">
                    <a:solidFill>
                      <a:srgbClr val="24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843"/>
                          </a:solidFill>
                          <a:latin typeface="Arial" panose="020B0604020202020204"/>
                        </a:defRPr>
                      </a:pPr>
                      <a:r>
                        <a:t>0.849</a:t>
                      </a:r>
                    </a:p>
                  </a:txBody>
                  <a:tcPr anchor="ctr">
                    <a:solidFill>
                      <a:srgbClr val="24355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4864" cy="2286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Arial" panose="020B0604020202020204"/>
              </a:defRPr>
            </a:pPr>
            <a: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400" b="0">
                <a:solidFill>
                  <a:srgbClr val="2D2D2D"/>
                </a:solidFill>
                <a:latin typeface="Arial" panose="020B0604020202020204"/>
              </a:defRPr>
            </a:pPr>
            <a:r>
              <a:t>•  Multi-Step: +6.9% accuracy over CoT, +2.8% over Prompt Ensemble — a substantial margin</a:t>
            </a:r>
          </a:p>
          <a:p>
            <a:pPr algn="l">
              <a:spcAft>
                <a:spcPts val="540"/>
              </a:spcAft>
              <a:defRPr sz="1400" b="0">
                <a:solidFill>
                  <a:srgbClr val="2D2D2D"/>
                </a:solidFill>
                <a:latin typeface="Arial" panose="020B0604020202020204"/>
              </a:defRPr>
            </a:pPr>
            <a:r>
              <a:t>•  Recall 86.1% is the business-critical metric — fewer undetected misinformation posts escape</a:t>
            </a:r>
          </a:p>
          <a:p>
            <a:pPr algn="l">
              <a:spcAft>
                <a:spcPts val="540"/>
              </a:spcAft>
              <a:defRPr sz="1400" b="0">
                <a:solidFill>
                  <a:srgbClr val="2D2D2D"/>
                </a:solidFill>
                <a:latin typeface="Arial" panose="020B0604020202020204"/>
              </a:defRPr>
            </a:pPr>
            <a:r>
              <a:t>•  Staged verification eliminates image-caption mismatch errors (the dominant CoT failure mode)</a:t>
            </a:r>
          </a:p>
          <a:p>
            <a:pPr algn="l">
              <a:spcAft>
                <a:spcPts val="540"/>
              </a:spcAft>
              <a:defRPr sz="1400" b="0">
                <a:solidFill>
                  <a:srgbClr val="2D2D2D"/>
                </a:solidFill>
                <a:latin typeface="Arial" panose="020B0604020202020204"/>
              </a:defRPr>
            </a:pPr>
            <a:r>
              <a:t>•  Prompt Ensemble provides marginal gains but cannot fix structural reasoning flaws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Results: Multi-Step Outperforms Across All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141732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37360"/>
                <a:gridCol w="1737360"/>
                <a:gridCol w="1737360"/>
                <a:gridCol w="192024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 panose="020B0604020202020204"/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CoT Evidence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0.778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0.794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0.771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Prompt Ensemble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0.819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0.829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Arial" panose="020B0604020202020204"/>
                        </a:defRPr>
                      </a:pPr>
                      <a:r>
                        <a:t>0.817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843"/>
                          </a:solidFill>
                          <a:latin typeface="Arial" panose="020B0604020202020204"/>
                        </a:defRPr>
                      </a:pPr>
                      <a:r>
                        <a:t>★ Multi-Step</a:t>
                      </a:r>
                    </a:p>
                  </a:txBody>
                  <a:tcPr anchor="ctr">
                    <a:solidFill>
                      <a:srgbClr val="24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843"/>
                          </a:solidFill>
                          <a:latin typeface="Arial" panose="020B0604020202020204"/>
                        </a:defRPr>
                      </a:pPr>
                      <a:r>
                        <a:t>0.847</a:t>
                      </a:r>
                    </a:p>
                  </a:txBody>
                  <a:tcPr anchor="ctr">
                    <a:solidFill>
                      <a:srgbClr val="24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843"/>
                          </a:solidFill>
                          <a:latin typeface="Arial" panose="020B0604020202020204"/>
                        </a:defRPr>
                      </a:pPr>
                      <a:r>
                        <a:t>0.838</a:t>
                      </a:r>
                    </a:p>
                  </a:txBody>
                  <a:tcPr anchor="ctr">
                    <a:solidFill>
                      <a:srgbClr val="24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843"/>
                          </a:solidFill>
                          <a:latin typeface="Arial" panose="020B0604020202020204"/>
                        </a:defRPr>
                      </a:pPr>
                      <a:r>
                        <a:t>0.861</a:t>
                      </a:r>
                    </a:p>
                  </a:txBody>
                  <a:tcPr anchor="ctr">
                    <a:solidFill>
                      <a:srgbClr val="24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843"/>
                          </a:solidFill>
                          <a:latin typeface="Arial" panose="020B0604020202020204"/>
                        </a:defRPr>
                      </a:pPr>
                      <a:r>
                        <a:t>0.849</a:t>
                      </a:r>
                    </a:p>
                  </a:txBody>
                  <a:tcPr anchor="ctr">
                    <a:solidFill>
                      <a:srgbClr val="24355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4864" cy="2286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Arial" panose="020B0604020202020204"/>
              </a:defRPr>
            </a:pPr>
            <a: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400" b="0">
                <a:solidFill>
                  <a:srgbClr val="2D2D2D"/>
                </a:solidFill>
                <a:latin typeface="Arial" panose="020B0604020202020204"/>
              </a:defRPr>
            </a:pPr>
            <a:r>
              <a:t>•  Multi-Step: +6.9% accuracy over CoT, +2.8% over Prompt Ensemble — a substantial margin</a:t>
            </a:r>
          </a:p>
          <a:p>
            <a:pPr algn="l">
              <a:spcAft>
                <a:spcPts val="540"/>
              </a:spcAft>
              <a:defRPr sz="1400" b="0">
                <a:solidFill>
                  <a:srgbClr val="2D2D2D"/>
                </a:solidFill>
                <a:latin typeface="Arial" panose="020B0604020202020204"/>
              </a:defRPr>
            </a:pPr>
            <a:r>
              <a:t>•  Recall 86.1% is the business-critical metric — fewer undetected misinformation posts escape</a:t>
            </a:r>
          </a:p>
          <a:p>
            <a:pPr algn="l">
              <a:spcAft>
                <a:spcPts val="540"/>
              </a:spcAft>
              <a:defRPr sz="1400" b="0">
                <a:solidFill>
                  <a:srgbClr val="2D2D2D"/>
                </a:solidFill>
                <a:latin typeface="Arial" panose="020B0604020202020204"/>
              </a:defRPr>
            </a:pPr>
            <a:r>
              <a:t>•  Staged verification eliminates image-caption mismatch errors (the dominant CoT failure mode)</a:t>
            </a:r>
          </a:p>
          <a:p>
            <a:pPr algn="l">
              <a:spcAft>
                <a:spcPts val="540"/>
              </a:spcAft>
              <a:defRPr sz="1400" b="0">
                <a:solidFill>
                  <a:srgbClr val="2D2D2D"/>
                </a:solidFill>
                <a:latin typeface="Arial" panose="020B0604020202020204"/>
              </a:defRPr>
            </a:pPr>
            <a:r>
              <a:t>•  Prompt Ensemble provides marginal gains but cannot fix structural reasoning flaws</a:t>
            </a:r>
          </a:p>
        </p:txBody>
      </p:sp>
      <p:pic>
        <p:nvPicPr>
          <p:cNvPr id="13" name="Picture 12" descr="figure_3_2_label_by_top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045" y="1084580"/>
            <a:ext cx="5989320" cy="3505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Model Performance: Visual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57784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Arial" panose="020B0604020202020204"/>
              </a:defRPr>
            </a:pPr>
            <a:r>
              <a:t>Accuracy by 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 panose="020B0604020202020204"/>
              </a:defRPr>
            </a:pPr>
            <a:r>
              <a:t>Celebrity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645715"/>
            <a:ext cx="320040" cy="761695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62456" y="2645715"/>
            <a:ext cx="320040" cy="76169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35204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 panose="020B0604020202020204"/>
              </a:defRPr>
            </a:pPr>
            <a:r>
              <a:t>Conflict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797506"/>
            <a:ext cx="320040" cy="609904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85416" y="2721610"/>
            <a:ext cx="32004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35204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 panose="020B0604020202020204"/>
              </a:defRPr>
            </a:pPr>
            <a:r>
              <a:t>Disaster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721610"/>
            <a:ext cx="320040" cy="685800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08376" y="2721610"/>
            <a:ext cx="32004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5204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 panose="020B0604020202020204"/>
              </a:defRPr>
            </a:pPr>
            <a:r>
              <a:t>Economy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568906"/>
            <a:ext cx="320040" cy="838504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31336" y="2493010"/>
            <a:ext cx="32004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35204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 panose="020B0604020202020204"/>
              </a:defRPr>
            </a:pPr>
            <a:r>
              <a:t>Election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797506"/>
            <a:ext cx="320040" cy="609904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54296" y="2645715"/>
            <a:ext cx="320040" cy="76169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35204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D2D2D"/>
                </a:solidFill>
                <a:latin typeface="Arial" panose="020B0604020202020204"/>
              </a:defRPr>
            </a:pPr>
            <a:r>
              <a:t>Health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645715"/>
            <a:ext cx="320040" cy="761695"/>
          </a:xfrm>
          <a:prstGeom prst="rect">
            <a:avLst/>
          </a:prstGeom>
          <a:solidFill>
            <a:srgbClr val="3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77256" y="2568906"/>
            <a:ext cx="320040" cy="838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0055" y="1475105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A5A8C"/>
                </a:solidFill>
                <a:latin typeface="Arial" panose="020B0604020202020204"/>
              </a:defRPr>
            </a:pPr>
            <a:r>
              <a:t>CoT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0055" y="1657985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2A4A"/>
                </a:solidFill>
                <a:latin typeface="Arial" panose="020B0604020202020204"/>
              </a:defRPr>
            </a:pPr>
            <a:r>
              <a:t>Multi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71600"/>
            <a:ext cx="557784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463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Arial" panose="020B0604020202020204"/>
              </a:defRPr>
            </a:pPr>
            <a:r>
              <a:t>Evidence Coverage by Retrieval 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Image-search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1965960"/>
            <a:ext cx="2724180" cy="2286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A"/>
                </a:solidFill>
                <a:latin typeface="Arial" panose="020B0604020202020204"/>
              </a:defRPr>
            </a:pPr>
            <a:r>
              <a:t>93%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359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Caption-search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2404872"/>
            <a:ext cx="2560320" cy="2286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0" y="2359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A"/>
                </a:solidFill>
                <a:latin typeface="Arial" panose="020B0604020202020204"/>
              </a:defRPr>
            </a:pPr>
            <a:r>
              <a:t>88%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7980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Web-text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843784"/>
            <a:ext cx="2358420" cy="2286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47120" y="27980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A"/>
                </a:solidFill>
                <a:latin typeface="Arial" panose="020B0604020202020204"/>
              </a:defRPr>
            </a:pPr>
            <a:r>
              <a:t>81%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2369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Gen-question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3282696"/>
            <a:ext cx="2276490" cy="2286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47120" y="32369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2A4A"/>
                </a:solidFill>
                <a:latin typeface="Arial" panose="020B0604020202020204"/>
              </a:defRPr>
            </a:pPr>
            <a:r>
              <a:t>78%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023360"/>
            <a:ext cx="1143000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Arial" panose="020B0604020202020204"/>
              </a:defRPr>
            </a:pPr>
            <a:r>
              <a:t>Error Reduction: Multi-Step vs CoT Baseline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4348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  <a:latin typeface="Arial" panose="020B0604020202020204"/>
              </a:defRPr>
            </a:pPr>
            <a:r>
              <a:t>Error 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9039" y="44348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  <a:latin typeface="Arial" panose="020B0604020202020204"/>
              </a:defRPr>
            </a:pPr>
            <a:r>
              <a:t>CoT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4348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  <a:latin typeface="Arial" panose="020B0604020202020204"/>
              </a:defRPr>
            </a:pPr>
            <a:r>
              <a:t>Multi-Step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44348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2A4A"/>
                </a:solidFill>
                <a:latin typeface="Arial" panose="020B0604020202020204"/>
              </a:defRPr>
            </a:pPr>
            <a:r>
              <a:t>Change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4709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Ambiguous Context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39" y="47091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7091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709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Same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50749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Entity/Date Mismatch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49039" y="50749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0749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5074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Arial" panose="020B0604020202020204"/>
              </a:defRPr>
            </a:pPr>
            <a:r>
              <a:t>↓ 40%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440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Image-Caption Mismatch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49039" y="5440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5440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5440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Arial" panose="020B0604020202020204"/>
              </a:defRPr>
            </a:pPr>
            <a:r>
              <a:t>↓ 33% — key improvement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5806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Missing Evidence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39" y="5806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5806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18320" y="5806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Same (shared ceiling)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6172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Satire/Rhetoric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49039" y="61722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61722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Arial" panose="020B0604020202020204"/>
              </a:defRPr>
            </a:pPr>
            <a: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18320" y="6172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Arial" panose="020B0604020202020204"/>
              </a:defRPr>
            </a:pPr>
            <a:r>
              <a:t>↓ 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702685"/>
            <a:ext cx="597725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</a:rPr>
              <a:t>Multi-Step maintains highest accuracy across all 6 topics — including Election &amp; Health (hardest cases).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0" y="369189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</a:rPr>
              <a:t>Image &amp; caption search provide most evidence. Web &amp; generated queries have lower coverage.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Error Analysis: Where Models Still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 panose="020B0604020202020204"/>
              </a:defRPr>
            </a:pPr>
            <a:r>
              <a:t>Five shared misclassification patterns (CoT / Ensemble / Multi-Step error counts)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05740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0574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Ambiguous</a:t>
            </a:r>
            <a:br/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Errors: CoT:3 Ens:2 MS:2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Arial" panose="020B0604020202020204"/>
              </a:defRPr>
            </a:pPr>
            <a:r>
              <a:t>Unclear factual</a:t>
            </a:r>
            <a:br/>
            <a:r>
              <a:t>background leads</a:t>
            </a:r>
            <a:br/>
            <a:r>
              <a:t>to guesswork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828800"/>
            <a:ext cx="205740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1828800"/>
            <a:ext cx="20574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920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Entity/Date</a:t>
            </a:r>
            <a:br/>
            <a:r>
              <a:t>Mismatch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514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Errors: CoT:5 Ens:4 MS:3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8346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Arial" panose="020B0604020202020204"/>
              </a:defRPr>
            </a:pPr>
            <a:r>
              <a:t>Minor factual errors</a:t>
            </a:r>
            <a:br/>
            <a:r>
              <a:t>confused with</a:t>
            </a:r>
            <a:br/>
            <a:r>
              <a:t>real misinformation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828800"/>
            <a:ext cx="205740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1828800"/>
            <a:ext cx="20574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920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Image-Caption</a:t>
            </a:r>
            <a:br/>
            <a:r>
              <a:t>Mismatch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514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Errors: CoT:3 Ens:2 MS:2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8346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Arial" panose="020B0604020202020204"/>
              </a:defRPr>
            </a:pPr>
            <a:r>
              <a:t>Real image + fake</a:t>
            </a:r>
            <a:br/>
            <a:r>
              <a:t>caption. CoT cannot</a:t>
            </a:r>
            <a:br/>
            <a:r>
              <a:t>separate these.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1828800"/>
            <a:ext cx="205740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828800"/>
            <a:ext cx="20574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1920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Missing Reliable</a:t>
            </a:r>
            <a:br/>
            <a: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514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Errors: CoT:3 Ens:3 MS:3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8346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Arial" panose="020B0604020202020204"/>
              </a:defRPr>
            </a:pPr>
            <a:r>
              <a:t>Universal limitation:</a:t>
            </a:r>
            <a:br/>
            <a:r>
              <a:t>no evidence →</a:t>
            </a:r>
            <a:br/>
            <a:r>
              <a:t>forced to guess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828800"/>
            <a:ext cx="205740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1828800"/>
            <a:ext cx="20574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1920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Satire or</a:t>
            </a:r>
            <a:br/>
            <a:r>
              <a:t>Rhetoric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514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Errors: CoT:2 Ens:2 MS:1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8346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Arial" panose="020B0604020202020204"/>
              </a:defRPr>
            </a:pPr>
            <a:r>
              <a:t>Humorous/satirical</a:t>
            </a:r>
            <a:br/>
            <a:r>
              <a:t>tone misread as</a:t>
            </a:r>
            <a:br/>
            <a:r>
              <a:t>false claims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572000"/>
            <a:ext cx="10698480" cy="17373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572000"/>
            <a:ext cx="54864" cy="17373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Arial" panose="020B0604020202020204"/>
              </a:defRPr>
            </a:pPr>
            <a:r>
              <a:t>Slice-Based Error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9834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•  Election &amp; Health topics → universal accuracy decline — ambiguous, polarized claims lack definitive evidence</a:t>
            </a:r>
          </a:p>
          <a:p>
            <a:pPr algn="l">
              <a:spcAft>
                <a:spcPts val="520"/>
              </a:spcAft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•  Image-caption mismatch is the #1 CoT failure → Multi-Step eliminates this via independent image misuse inspection</a:t>
            </a:r>
          </a:p>
          <a:p>
            <a:pPr algn="l">
              <a:spcAft>
                <a:spcPts val="520"/>
              </a:spcAft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•  Missing evidence affects ALL pipelines equally → retrieval quality is the shared performance ceiling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Error Analysis: Where Models Still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 panose="020B0604020202020204"/>
              </a:defRPr>
            </a:pPr>
            <a:r>
              <a:t>Five shared misclassification patterns (CoT / Ensemble / Multi-Step error counts)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05740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0574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Ambiguous</a:t>
            </a:r>
            <a:br/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Errors: CoT:3 Ens:2 MS:2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Arial" panose="020B0604020202020204"/>
              </a:defRPr>
            </a:pPr>
            <a:r>
              <a:t>Unclear factual</a:t>
            </a:r>
            <a:br/>
            <a:r>
              <a:t>background leads</a:t>
            </a:r>
            <a:br/>
            <a:r>
              <a:t>to guesswork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828800"/>
            <a:ext cx="205740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1828800"/>
            <a:ext cx="20574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920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Entity/Date</a:t>
            </a:r>
            <a:br/>
            <a:r>
              <a:t>Mismatch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514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Errors: CoT:5 Ens:4 MS:3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8346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Arial" panose="020B0604020202020204"/>
              </a:defRPr>
            </a:pPr>
            <a:r>
              <a:t>Minor factual errors</a:t>
            </a:r>
            <a:br/>
            <a:r>
              <a:t>confused with</a:t>
            </a:r>
            <a:br/>
            <a:r>
              <a:t>real misinformation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828800"/>
            <a:ext cx="205740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1828800"/>
            <a:ext cx="20574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920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Image-Caption</a:t>
            </a:r>
            <a:br/>
            <a:r>
              <a:t>Mismatch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514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Errors: CoT:3 Ens:2 MS:2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8346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Arial" panose="020B0604020202020204"/>
              </a:defRPr>
            </a:pPr>
            <a:r>
              <a:t>Real image + fake</a:t>
            </a:r>
            <a:br/>
            <a:r>
              <a:t>caption. CoT cannot</a:t>
            </a:r>
            <a:br/>
            <a:r>
              <a:t>separate these.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1828800"/>
            <a:ext cx="205740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828800"/>
            <a:ext cx="20574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1920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Missing Reliable</a:t>
            </a:r>
            <a:br/>
            <a: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514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Errors: CoT:3 Ens:3 MS:3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8346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Arial" panose="020B0604020202020204"/>
              </a:defRPr>
            </a:pPr>
            <a:r>
              <a:t>Universal limitation:</a:t>
            </a:r>
            <a:br/>
            <a:r>
              <a:t>no evidence →</a:t>
            </a:r>
            <a:br/>
            <a:r>
              <a:t>forced to guess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828800"/>
            <a:ext cx="2057400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1828800"/>
            <a:ext cx="20574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19202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Arial" panose="020B0604020202020204"/>
              </a:defRPr>
            </a:pPr>
            <a:r>
              <a:t>Satire or</a:t>
            </a:r>
            <a:br/>
            <a:r>
              <a:t>Rhetoric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5146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 panose="020B0604020202020204"/>
              </a:defRPr>
            </a:pPr>
            <a:r>
              <a:t>Errors: CoT:2 Ens:2 MS:1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83464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Arial" panose="020B0604020202020204"/>
              </a:defRPr>
            </a:pPr>
            <a:r>
              <a:t>Humorous/satirical</a:t>
            </a:r>
            <a:br/>
            <a:r>
              <a:t>tone misread as</a:t>
            </a:r>
            <a:br/>
            <a:r>
              <a:t>false claims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572000"/>
            <a:ext cx="10698480" cy="17373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572000"/>
            <a:ext cx="54864" cy="17373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Arial" panose="020B0604020202020204"/>
              </a:defRPr>
            </a:pPr>
            <a:r>
              <a:t>Slice-Based Error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9834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•  Election &amp; Health topics → universal accuracy decline — ambiguous, polarized claims lack definitive evidence</a:t>
            </a:r>
          </a:p>
          <a:p>
            <a:pPr algn="l">
              <a:spcAft>
                <a:spcPts val="520"/>
              </a:spcAft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•  Image-caption mismatch is the #1 CoT failure → Multi-Step eliminates this via independent image misuse inspection</a:t>
            </a:r>
          </a:p>
          <a:p>
            <a:pPr algn="l">
              <a:spcAft>
                <a:spcPts val="520"/>
              </a:spcAft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•  Missing evidence affects ALL pipelines equally → retrieval quality is the shared performance ceiling</a:t>
            </a:r>
          </a:p>
        </p:txBody>
      </p:sp>
      <p:pic>
        <p:nvPicPr>
          <p:cNvPr id="38" name="Picture 37" descr="figure_3_1_label_by_error_categ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315" y="1825625"/>
            <a:ext cx="5224145" cy="25641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Picture 38" descr="figure_4_4_text_length_by_topic_and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460" y="1731010"/>
            <a:ext cx="6192520" cy="2658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Model Limitations &amp; Future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651760" cy="24688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65176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Arial" panose="020B0604020202020204"/>
              </a:defRPr>
            </a:pPr>
            <a:r>
              <a:t>🔌  API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Full pipeline requires paid</a:t>
            </a:r>
            <a:br/>
            <a:r>
              <a:t>LLM, image recognition, and</a:t>
            </a:r>
            <a:br/>
            <a:r>
              <a:t>search service credentials.</a:t>
            </a:r>
            <a:br/>
            <a:r>
              <a:t>Cannot run fully offline.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463040"/>
            <a:ext cx="2651760" cy="24688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463040"/>
            <a:ext cx="265176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Arial" panose="020B0604020202020204"/>
              </a:defRPr>
            </a:pPr>
            <a:r>
              <a:t>📡  Retrieval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03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Search outputs may be outdated,</a:t>
            </a:r>
            <a:br/>
            <a:r>
              <a:t>duplicated, or unsubstantiated.</a:t>
            </a:r>
            <a:br/>
            <a:r>
              <a:t>Contradictory evidence can</a:t>
            </a:r>
            <a:br/>
            <a:r>
              <a:t>distort all models' reasoning.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2651760" cy="24688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265176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Arial" panose="020B0604020202020204"/>
              </a:defRPr>
            </a:pPr>
            <a:r>
              <a:t>🌍  OOD Generalization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Trained on 2024-2025 English</a:t>
            </a:r>
            <a:br/>
            <a:r>
              <a:t>social media posts. Performance</a:t>
            </a:r>
            <a:br/>
            <a:r>
              <a:t>drops on long videos, low-resource</a:t>
            </a:r>
            <a:br/>
            <a:r>
              <a:t>languages, other content types.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463040"/>
            <a:ext cx="2651760" cy="24688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463040"/>
            <a:ext cx="265176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Arial" panose="020B0604020202020204"/>
              </a:defRPr>
            </a:pPr>
            <a:r>
              <a:t>🖼️  No Pixel-Level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103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rial" panose="020B0604020202020204"/>
              </a:defRPr>
            </a:pPr>
            <a:r>
              <a:t>All architectures only evaluate</a:t>
            </a:r>
            <a:br/>
            <a:r>
              <a:t>cross-modal semantic alignment.</a:t>
            </a:r>
            <a:br/>
            <a:r>
              <a:t>No dedicated module for detecting</a:t>
            </a:r>
            <a:br/>
            <a:r>
              <a:t>Photoshop or subtle AI 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54864" cy="21031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96A"/>
                </a:solidFill>
                <a:latin typeface="Arial" panose="020B0604020202020204"/>
              </a:defRPr>
            </a:pPr>
            <a:r>
              <a:t>Future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60"/>
              </a:spcAft>
              <a:defRPr sz="1300" b="0">
                <a:solidFill>
                  <a:srgbClr val="FFFFFF"/>
                </a:solidFill>
                <a:latin typeface="Arial" panose="020B0604020202020204"/>
              </a:defRPr>
            </a:pPr>
            <a:r>
              <a:t>•  Evidence filtering &amp; deduplication — reduce retrieval noise for more reliable reasoning</a:t>
            </a:r>
          </a:p>
          <a:p>
            <a:pPr algn="l">
              <a:spcAft>
                <a:spcPts val="560"/>
              </a:spcAft>
              <a:defRPr sz="1300" b="0">
                <a:solidFill>
                  <a:srgbClr val="FFFFFF"/>
                </a:solidFill>
                <a:latin typeface="Arial" panose="020B0604020202020204"/>
              </a:defRPr>
            </a:pPr>
            <a:r>
              <a:t>•  Lightweight multi-step — distill LLM-based's reasoning chain into a smaller, faster model</a:t>
            </a:r>
          </a:p>
          <a:p>
            <a:pPr algn="l">
              <a:spcAft>
                <a:spcPts val="560"/>
              </a:spcAft>
              <a:defRPr sz="1300" b="0">
                <a:solidFill>
                  <a:srgbClr val="FFFFFF"/>
                </a:solidFill>
                <a:latin typeface="Arial" panose="020B0604020202020204"/>
              </a:defRPr>
            </a:pPr>
            <a:r>
              <a:t>•  Pixel-level forgery detection — add dedicated image forensic modules to complement semantic checks</a:t>
            </a:r>
          </a:p>
          <a:p>
            <a:pPr algn="l">
              <a:spcAft>
                <a:spcPts val="560"/>
              </a:spcAft>
              <a:defRPr sz="1300" b="0">
                <a:solidFill>
                  <a:srgbClr val="FFFFFF"/>
                </a:solidFill>
                <a:latin typeface="Arial" panose="020B0604020202020204"/>
              </a:defRPr>
            </a:pPr>
            <a:r>
              <a:t>•  Detection-in-the-loop — semi-automatic continuous dataset updates to maintain temporal relevance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698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Arial" panose="020B0604020202020204"/>
              </a:defRPr>
            </a:pPr>
            <a:r>
              <a:t>Summary &amp;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MultiFact — Multimodal Misinformation Detection  |  Group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 panose="020B0604020202020204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4864" cy="10972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54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 panose="020B0604020202020204"/>
              </a:defRPr>
            </a:pPr>
            <a:r>
              <a:t>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Arial" panose="020B0604020202020204"/>
              </a:defRPr>
            </a:pPr>
            <a:r>
              <a:t>Multi-Step &gt; Ensemble &gt; CoT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202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Staged verification outperforms single-stage reasoning across all 4 metrics.</a:t>
            </a:r>
            <a:br/>
            <a:r>
              <a:t>+6.9% accuracy improvement over the baseline is a substantial margin.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1069848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97480"/>
            <a:ext cx="54864" cy="10972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788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 panose="020B0604020202020204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Arial" panose="020B0604020202020204"/>
              </a:defRPr>
            </a:pPr>
            <a:r>
              <a:t>Recall Matters Most for Misinformation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54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The cost of missing fake news far exceeds the cost of a false alarm.</a:t>
            </a:r>
            <a:br/>
            <a:r>
              <a:t>Multi-Step's 86.1% recall is the key metric for real-world deployment.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54864" cy="10972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23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 panose="020B0604020202020204"/>
              </a:defRPr>
            </a:pPr>
            <a: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Arial" panose="020B0604020202020204"/>
              </a:defRPr>
            </a:pPr>
            <a:r>
              <a:t>Evidence Retrieval = Shared Ceiling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3891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All models degrade under evidence-poor conditions.</a:t>
            </a:r>
            <a:br/>
            <a:r>
              <a:t>Better retrieval infrastructure benefits every reasoning strategy.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166360"/>
            <a:ext cx="54864" cy="10972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57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rial" panose="020B0604020202020204"/>
              </a:defRPr>
            </a:pPr>
            <a:r>
              <a:t>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Arial" panose="020B0604020202020204"/>
              </a:defRPr>
            </a:pPr>
            <a:r>
              <a:t>EDA Drove Better Modeling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235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rial" panose="020B0604020202020204"/>
              </a:defRPr>
            </a:pPr>
            <a:r>
              <a:t>Identifying author as a confound and real-image deception as the</a:t>
            </a:r>
            <a:br/>
            <a:r>
              <a:t>main threat directly shaped our experimental design choices.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55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Arial" panose="020B0604020202020204"/>
              </a:defRPr>
            </a:pPr>
            <a:r>
              <a:t>All code, data, and reports available on GitHub  ·  Thank you for listening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2"/>
          <p:cNvSpPr/>
          <p:nvPr/>
        </p:nvSpPr>
        <p:spPr>
          <a:xfrm>
            <a:off x="4754880" y="2085975"/>
            <a:ext cx="265176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" name="TextBox 3"/>
          <p:cNvSpPr txBox="1"/>
          <p:nvPr/>
        </p:nvSpPr>
        <p:spPr>
          <a:xfrm>
            <a:off x="1371600" y="2360295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4800" b="1">
                <a:solidFill>
                  <a:srgbClr val="FFFFFF"/>
                </a:solidFill>
                <a:latin typeface="Arial" panose="020B0604020202020204"/>
              </a:defRPr>
            </a:pPr>
            <a:r>
              <a:t>Questions &amp; Answers</a:t>
            </a:r>
          </a:p>
        </p:txBody>
      </p:sp>
      <p:sp>
        <p:nvSpPr>
          <p:cNvPr id="13" name="TextBox 4"/>
          <p:cNvSpPr txBox="1"/>
          <p:nvPr/>
        </p:nvSpPr>
        <p:spPr>
          <a:xfrm>
            <a:off x="1371600" y="3366135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800" b="0">
                <a:solidFill>
                  <a:srgbClr val="D4A843"/>
                </a:solidFill>
                <a:latin typeface="Arial" panose="020B0604020202020204"/>
              </a:defRPr>
            </a:pPr>
            <a:r>
              <a:t>MultiFact — Multimodal Misinformation Detection</a:t>
            </a:r>
          </a:p>
        </p:txBody>
      </p:sp>
      <p:sp>
        <p:nvSpPr>
          <p:cNvPr id="14" name="TextBox 5"/>
          <p:cNvSpPr txBox="1"/>
          <p:nvPr/>
        </p:nvSpPr>
        <p:spPr>
          <a:xfrm>
            <a:off x="1371600" y="3914775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0">
                <a:solidFill>
                  <a:srgbClr val="999999"/>
                </a:solidFill>
                <a:latin typeface="Arial" panose="020B0604020202020204"/>
              </a:defRPr>
            </a:pPr>
            <a:r>
              <a:t>Group 25  |  INFO 442 Data Science Projects  |  June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625" y="285115"/>
            <a:ext cx="7976235" cy="62884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2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3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4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5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6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7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8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9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10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11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12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13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14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15.xml><?xml version="1.0" encoding="utf-8"?>
<p:tagLst xmlns:p="http://schemas.openxmlformats.org/presentationml/2006/main">
  <p:tag name="KSO_WM_DIAGRAM_VIRTUALLY_FRAME" val="{&quot;height&quot;:182.15,&quot;left&quot;:57.6,&quot;top&quot;:115.2,&quot;width&quot;:644.4}"/>
</p:tagLst>
</file>

<file path=ppt/tags/tag16.xml><?xml version="1.0" encoding="utf-8"?>
<p:tagLst xmlns:p="http://schemas.openxmlformats.org/presentationml/2006/main">
  <p:tag name="KSO_WM_DIAGRAM_VIRTUALLY_FRAME" val="{&quot;height&quot;:437.17251968503933,&quot;left&quot;:28.05,&quot;top&quot;:64.1,&quot;width&quot;:900.75}"/>
</p:tagLst>
</file>

<file path=ppt/tags/tag17.xml><?xml version="1.0" encoding="utf-8"?>
<p:tagLst xmlns:p="http://schemas.openxmlformats.org/presentationml/2006/main">
  <p:tag name="KSO_WM_DIAGRAM_VIRTUALLY_FRAME" val="{&quot;height&quot;:437.17251968503933,&quot;left&quot;:28.05,&quot;top&quot;:64.1,&quot;width&quot;:900.75}"/>
</p:tagLst>
</file>

<file path=ppt/tags/tag18.xml><?xml version="1.0" encoding="utf-8"?>
<p:tagLst xmlns:p="http://schemas.openxmlformats.org/presentationml/2006/main">
  <p:tag name="KSO_WM_DIAGRAM_VIRTUALLY_FRAME" val="{&quot;height&quot;:437.17251968503933,&quot;left&quot;:28.05,&quot;top&quot;:64.1,&quot;width&quot;:900.75}"/>
</p:tagLst>
</file>

<file path=ppt/tags/tag19.xml><?xml version="1.0" encoding="utf-8"?>
<p:tagLst xmlns:p="http://schemas.openxmlformats.org/presentationml/2006/main">
  <p:tag name="KSO_WM_DIAGRAM_VIRTUALLY_FRAME" val="{&quot;height&quot;:437.17251968503933,&quot;left&quot;:28.05,&quot;top&quot;:64.1,&quot;width&quot;:900.75}"/>
</p:tagLst>
</file>

<file path=ppt/tags/tag20.xml><?xml version="1.0" encoding="utf-8"?>
<p:tagLst xmlns:p="http://schemas.openxmlformats.org/presentationml/2006/main">
  <p:tag name="KSO_WM_DIAGRAM_VIRTUALLY_FRAME" val="{&quot;height&quot;:437.17251968503933,&quot;left&quot;:28.05,&quot;top&quot;:64.1,&quot;width&quot;:900.75}"/>
</p:tagLst>
</file>

<file path=ppt/tags/tag21.xml><?xml version="1.0" encoding="utf-8"?>
<p:tagLst xmlns:p="http://schemas.openxmlformats.org/presentationml/2006/main">
  <p:tag name="KSO_WM_DIAGRAM_VIRTUALLY_FRAME" val="{&quot;height&quot;:437.17251968503933,&quot;left&quot;:28.05,&quot;top&quot;:64.1,&quot;width&quot;:900.75}"/>
</p:tagLst>
</file>

<file path=ppt/tags/tag22.xml><?xml version="1.0" encoding="utf-8"?>
<p:tagLst xmlns:p="http://schemas.openxmlformats.org/presentationml/2006/main">
  <p:tag name="KSO_WM_DIAGRAM_VIRTUALLY_FRAME" val="{&quot;height&quot;:437.17251968503933,&quot;left&quot;:28.05,&quot;top&quot;:64.1,&quot;width&quot;:900.75}"/>
</p:tagLst>
</file>

<file path=ppt/tags/tag23.xml><?xml version="1.0" encoding="utf-8"?>
<p:tagLst xmlns:p="http://schemas.openxmlformats.org/presentationml/2006/main">
  <p:tag name="KSO_WM_DIAGRAM_VIRTUALLY_FRAME" val="{&quot;height&quot;:437.17251968503933,&quot;left&quot;:28.05,&quot;top&quot;:64.1,&quot;width&quot;:900.75}"/>
</p:tagLst>
</file>

<file path=ppt/tags/tag24.xml><?xml version="1.0" encoding="utf-8"?>
<p:tagLst xmlns:p="http://schemas.openxmlformats.org/presentationml/2006/main">
  <p:tag name="KSO_WM_DIAGRAM_VIRTUALLY_FRAME" val="{&quot;height&quot;:437.17251968503933,&quot;left&quot;:28.05,&quot;top&quot;:64.1,&quot;width&quot;:900.75}"/>
</p:tagLst>
</file>

<file path=ppt/tags/tag25.xml><?xml version="1.0" encoding="utf-8"?>
<p:tagLst xmlns:p="http://schemas.openxmlformats.org/presentationml/2006/main">
  <p:tag name="KSO_WM_DIAGRAM_VIRTUALLY_FRAME" val="{&quot;height&quot;:437.17251968503933,&quot;left&quot;:28.05,&quot;top&quot;:64.1,&quot;width&quot;:900.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11301</Words>
  <Application>WPS 演示</Application>
  <PresentationFormat>On-screen Show (4:3)</PresentationFormat>
  <Paragraphs>571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野猪乔治</cp:lastModifiedBy>
  <cp:revision>15</cp:revision>
  <dcterms:created xsi:type="dcterms:W3CDTF">2013-01-27T09:14:00Z</dcterms:created>
  <dcterms:modified xsi:type="dcterms:W3CDTF">2026-07-01T07:33:18Z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4258B17C5F7845E3A87BC803BB03C7D6_12</vt:lpwstr>
  </property>
  <property fmtid="{D5CDD505-2E9C-101B-9397-08002B2CF9AE}" pid="3" name="KSOProductBuildVer">
    <vt:lpwstr>2052-12.1.0.21541</vt:lpwstr>
  </property>
</Properties>
</file>